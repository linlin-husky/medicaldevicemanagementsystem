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3aac4c12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3aac4c12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03711ba7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03711ba7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03711ba7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03711ba7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03711ba7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03711ba7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003ff821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003ff821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003ff821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003ff821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03711ba77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03711ba7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da00fb23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da00fb23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3aac4c129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13aac4c129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fbcec7a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fbcec7a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da00fb23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da00fb23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03711ba7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03711ba7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03711ba77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03711ba77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03711ba7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503711ba7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03711ba77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03711ba77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03711ba77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503711ba77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03711ba77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03711ba77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03711ba77_3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503711ba77_3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03711ba77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03711ba77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3aac4c12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13aac4c12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1493c1fa7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1493c1fa7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4da00fb23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4da00fb23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Medical Device Inventory Management System Project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5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 Zheng, NUID: 002300601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Linlin Fan, NUID: 002067502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Rajath Kiran Hegde, NUID: 002756186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TA: Peifang Chiang</a:t>
            </a:r>
            <a:endParaRPr b="1"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5150" y="488550"/>
            <a:ext cx="1529150" cy="15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 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1853850"/>
            <a:ext cx="7688700" cy="28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Project Context &amp; Challenge</a:t>
            </a:r>
            <a:endParaRPr sz="1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lang="en" sz="1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Our Solution: Innovative Device Sharing via Modularity</a:t>
            </a:r>
            <a:endParaRPr sz="1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lang="en" sz="1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Modularity in Action: Da Vinci Robot System</a:t>
            </a:r>
            <a:endParaRPr sz="1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lang="en" sz="1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Project Structure of PHS Network</a:t>
            </a:r>
            <a:endParaRPr sz="1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lang="en" sz="1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Resource Bundle Reservation Workflow between Hospitals</a:t>
            </a:r>
            <a:endParaRPr sz="1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lang="en" sz="1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Device Procurement Workflow in one Hospital</a:t>
            </a:r>
            <a:endParaRPr sz="1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lang="en" sz="1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Acceptance Criteria</a:t>
            </a:r>
            <a:endParaRPr sz="1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lang="en" sz="1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Goals of the Project</a:t>
            </a:r>
            <a:endParaRPr sz="1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5150" y="488550"/>
            <a:ext cx="1529150" cy="15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Context &amp; Challenge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Foundation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Medical Device Management for a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ervice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rovider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etwork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Partners HealthCare System (PHS)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Challenge: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medical devices (like surgical robots) - extremely high acquisition and maintenance costs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Individual institutions - low utilization rates &amp; inefficiency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Impacts: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Significant financial burden on healthcare providers,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underutilization of critical resources,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barrier to accessing latest technology.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953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Solution: Innovative Device Sharing via Modularity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utilization of expensive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device;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overall costs by facilitating sharing across the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Innovation: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Leverage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Modular Design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principles in advanced medical devices to enable a flexible, on-demand sharing model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Scope: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Addresses core requirements for </a:t>
            </a:r>
            <a:r>
              <a:rPr lang="en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inventory visibility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cross-network sharing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scheduling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warehouse management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Modularity in Action: Da Vinci Robot System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48492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Study: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5th Generation Da Vinci Surgical Robot System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Enabling Feature: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Highly modular architecture, particularly its detachable and independently functional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Surgical Arms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Model: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ull system purchase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flexible component rental model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Institutions can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rent the specific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needed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scheduled procedures, rather than investing in a complete, potentially underused, system.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18300"/>
          <a:stretch/>
        </p:blipFill>
        <p:spPr>
          <a:xfrm>
            <a:off x="5578675" y="3157850"/>
            <a:ext cx="3568126" cy="15655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375" y="556425"/>
            <a:ext cx="4482676" cy="451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461450" y="1397850"/>
            <a:ext cx="2228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Object Model for Work Request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5150" y="488550"/>
            <a:ext cx="1529150" cy="152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 rotWithShape="1">
          <a:blip r:embed="rId4">
            <a:alphaModFix/>
          </a:blip>
          <a:srcRect b="0" l="1500" r="-1499" t="0"/>
          <a:stretch/>
        </p:blipFill>
        <p:spPr>
          <a:xfrm>
            <a:off x="1982875" y="650725"/>
            <a:ext cx="5591125" cy="42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/>
        </p:nvSpPr>
        <p:spPr>
          <a:xfrm>
            <a:off x="213350" y="1295550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Diagram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</a:t>
            </a:r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 rotWithShape="1">
          <a:blip r:embed="rId3">
            <a:alphaModFix/>
          </a:blip>
          <a:srcRect b="34966" l="0" r="0" t="1225"/>
          <a:stretch/>
        </p:blipFill>
        <p:spPr>
          <a:xfrm>
            <a:off x="449175" y="815800"/>
            <a:ext cx="8322749" cy="40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2178100" y="544675"/>
            <a:ext cx="4562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5"/>
              <a:t>Project Structure of PHS Network</a:t>
            </a:r>
            <a:endParaRPr sz="21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3525" y="488550"/>
            <a:ext cx="1310775" cy="131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754925" y="1079875"/>
            <a:ext cx="1111200" cy="3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Network</a:t>
            </a:r>
            <a:endParaRPr b="1" sz="11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3707050" y="2651875"/>
            <a:ext cx="1501200" cy="34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1537" u="sng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Organization</a:t>
            </a:r>
            <a:endParaRPr b="1" sz="1537" u="sng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5472873" y="3499950"/>
            <a:ext cx="1645800" cy="347400"/>
          </a:xfrm>
          <a:prstGeom prst="rect">
            <a:avLst/>
          </a:prstGeom>
          <a:solidFill>
            <a:srgbClr val="B7B7B7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Doctor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3599952" y="3546250"/>
            <a:ext cx="1645800" cy="347400"/>
          </a:xfrm>
          <a:prstGeom prst="rect">
            <a:avLst/>
          </a:prstGeom>
          <a:solidFill>
            <a:srgbClr val="CCCCCC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Operations Management  </a:t>
            </a:r>
            <a:endParaRPr b="1"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1727025" y="3029900"/>
            <a:ext cx="1645800" cy="345900"/>
          </a:xfrm>
          <a:prstGeom prst="rect">
            <a:avLst/>
          </a:prstGeom>
          <a:solidFill>
            <a:srgbClr val="CCCC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Admin </a:t>
            </a:r>
            <a:endParaRPr b="1"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304125" y="3009200"/>
            <a:ext cx="1310700" cy="535200"/>
          </a:xfrm>
          <a:prstGeom prst="rect">
            <a:avLst/>
          </a:prstGeom>
          <a:solidFill>
            <a:srgbClr val="CCCC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PHS Organization</a:t>
            </a:r>
            <a:endParaRPr b="1"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7345800" y="3029900"/>
            <a:ext cx="1645800" cy="345900"/>
          </a:xfrm>
          <a:prstGeom prst="rect">
            <a:avLst/>
          </a:prstGeom>
          <a:solidFill>
            <a:srgbClr val="B7B7B7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Supplier </a:t>
            </a:r>
            <a:endParaRPr b="1"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2617400" y="4335675"/>
            <a:ext cx="1239000" cy="3048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lang="en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Medical Team</a:t>
            </a:r>
            <a:endParaRPr b="1"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7345800" y="3456500"/>
            <a:ext cx="1645800" cy="347400"/>
          </a:xfrm>
          <a:prstGeom prst="rect">
            <a:avLst/>
          </a:prstGeom>
          <a:solidFill>
            <a:srgbClr val="B7B7B7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Operations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Management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3908060" y="4016382"/>
            <a:ext cx="1239000" cy="3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4715"/>
              <a:buFont typeface="Arial"/>
              <a:buNone/>
            </a:pPr>
            <a:r>
              <a:rPr b="1" lang="en" sz="1537" u="sng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Roles</a:t>
            </a:r>
            <a:endParaRPr b="1" sz="1537" u="sng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4354075" y="4567975"/>
            <a:ext cx="761100" cy="3048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Doctor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376550" y="4689413"/>
            <a:ext cx="905700" cy="4155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lang="en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System Admin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1652600" y="4335688"/>
            <a:ext cx="761100" cy="2697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Admin</a:t>
            </a:r>
            <a:endParaRPr b="1"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7753525" y="4530825"/>
            <a:ext cx="1239000" cy="3441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Logistics Manager</a:t>
            </a:r>
            <a:endParaRPr b="1"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5268125" y="4530825"/>
            <a:ext cx="1273800" cy="3441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Device Manager</a:t>
            </a:r>
            <a:endParaRPr b="1"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6694875" y="4530825"/>
            <a:ext cx="905700" cy="3441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Supplier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1"/>
          <p:cNvSpPr txBox="1"/>
          <p:nvPr>
            <p:ph idx="1" type="body"/>
          </p:nvPr>
        </p:nvSpPr>
        <p:spPr>
          <a:xfrm>
            <a:off x="5472875" y="3029900"/>
            <a:ext cx="1645800" cy="345900"/>
          </a:xfrm>
          <a:prstGeom prst="rect">
            <a:avLst/>
          </a:prstGeom>
          <a:solidFill>
            <a:srgbClr val="B7B7B7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 Device Management </a:t>
            </a:r>
            <a:endParaRPr b="1"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5379062" y="2246175"/>
            <a:ext cx="1371600" cy="347400"/>
          </a:xfrm>
          <a:prstGeom prst="rect">
            <a:avLst/>
          </a:prstGeom>
          <a:solidFill>
            <a:srgbClr val="FFD966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Supply </a:t>
            </a:r>
            <a:endParaRPr b="1"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3707050" y="1438650"/>
            <a:ext cx="1239000" cy="3048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PHS Network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3689650" y="1852525"/>
            <a:ext cx="127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Enterprise</a:t>
            </a:r>
            <a:endParaRPr/>
          </a:p>
        </p:txBody>
      </p:sp>
      <p:sp>
        <p:nvSpPr>
          <p:cNvPr id="160" name="Google Shape;160;p21"/>
          <p:cNvSpPr txBox="1"/>
          <p:nvPr>
            <p:ph idx="1" type="body"/>
          </p:nvPr>
        </p:nvSpPr>
        <p:spPr>
          <a:xfrm>
            <a:off x="2089312" y="2246175"/>
            <a:ext cx="1371600" cy="365700"/>
          </a:xfrm>
          <a:prstGeom prst="rect">
            <a:avLst/>
          </a:prstGeom>
          <a:solidFill>
            <a:srgbClr val="FFD966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 Hospital 1</a:t>
            </a:r>
            <a:endParaRPr b="1"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1" name="Google Shape;161;p21"/>
          <p:cNvSpPr txBox="1"/>
          <p:nvPr>
            <p:ph idx="1" type="body"/>
          </p:nvPr>
        </p:nvSpPr>
        <p:spPr>
          <a:xfrm>
            <a:off x="3639625" y="2246175"/>
            <a:ext cx="1371600" cy="347400"/>
          </a:xfrm>
          <a:prstGeom prst="rect">
            <a:avLst/>
          </a:prstGeom>
          <a:solidFill>
            <a:srgbClr val="FFD966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 Hospital 2</a:t>
            </a:r>
            <a:endParaRPr b="1"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2" name="Google Shape;162;p21"/>
          <p:cNvSpPr txBox="1"/>
          <p:nvPr>
            <p:ph idx="1" type="body"/>
          </p:nvPr>
        </p:nvSpPr>
        <p:spPr>
          <a:xfrm>
            <a:off x="6987875" y="2240900"/>
            <a:ext cx="1371600" cy="347400"/>
          </a:xfrm>
          <a:prstGeom prst="rect">
            <a:avLst/>
          </a:prstGeom>
          <a:solidFill>
            <a:srgbClr val="FFD966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Logistics </a:t>
            </a:r>
            <a:endParaRPr b="1"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539000" y="2246175"/>
            <a:ext cx="1371600" cy="344100"/>
          </a:xfrm>
          <a:prstGeom prst="rect">
            <a:avLst/>
          </a:prstGeom>
          <a:solidFill>
            <a:srgbClr val="FFD966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PHS</a:t>
            </a:r>
            <a:r>
              <a:rPr b="1"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Enterprise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3599950" y="3029900"/>
            <a:ext cx="1645800" cy="347400"/>
          </a:xfrm>
          <a:prstGeom prst="rect">
            <a:avLst/>
          </a:prstGeom>
          <a:solidFill>
            <a:srgbClr val="CCCC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System Admin</a:t>
            </a:r>
            <a:endParaRPr b="1"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1727025" y="3514625"/>
            <a:ext cx="1645800" cy="347400"/>
          </a:xfrm>
          <a:prstGeom prst="rect">
            <a:avLst/>
          </a:prstGeom>
          <a:solidFill>
            <a:srgbClr val="CCCCCC"/>
          </a:solidFill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Maintenance</a:t>
            </a:r>
            <a:endParaRPr b="1" sz="1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4121875" y="4443925"/>
            <a:ext cx="4942500" cy="53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5322025" y="2004961"/>
            <a:ext cx="3105900" cy="72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5379050" y="2936250"/>
            <a:ext cx="3685200" cy="1065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2617388" y="4710713"/>
            <a:ext cx="1239000" cy="3048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lang="en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Scheduler</a:t>
            </a:r>
            <a:endParaRPr b="1"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209900" y="4318138"/>
            <a:ext cx="1239000" cy="3048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lang="en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Medical Team</a:t>
            </a:r>
            <a:endParaRPr b="1"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1" name="Google Shape;171;p21"/>
          <p:cNvSpPr txBox="1"/>
          <p:nvPr>
            <p:ph idx="1" type="body"/>
          </p:nvPr>
        </p:nvSpPr>
        <p:spPr>
          <a:xfrm>
            <a:off x="1447625" y="4689413"/>
            <a:ext cx="1079400" cy="3474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lang="en" sz="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Operating</a:t>
            </a:r>
            <a:r>
              <a:rPr b="1" lang="en" sz="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Room Manager</a:t>
            </a:r>
            <a:endParaRPr b="1" sz="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</a:t>
            </a:r>
            <a:r>
              <a:rPr lang="en"/>
              <a:t>Acquisition</a:t>
            </a:r>
            <a:r>
              <a:rPr lang="en"/>
              <a:t> Logic</a:t>
            </a:r>
            <a:endParaRPr/>
          </a:p>
        </p:txBody>
      </p:sp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729450" y="1822925"/>
            <a:ext cx="7688700" cy="30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Functionality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application can be able to place devices request, and then supplier organization can approval and reject this request based on their device inventory.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Doctor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(based on medical demands to reserve a device with certain date and duration.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Device Manager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(check if the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device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available, if not or even if yes, they can still buy the device from suppliers based on their own preference).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Supplier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(approve device acquaization request and send the transfer request to Logistics).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Manager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(transfer the device to Device Manager)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Device Manager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confirm they have received the device;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Doctor: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see the update of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acquisition ID and device ID(which means Device is already in place for use)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application should handle all the requests for device management and connect different requests into the closed loop.</a:t>
            </a:r>
            <a:endParaRPr sz="1800"/>
          </a:p>
        </p:txBody>
      </p:sp>
      <p:pic>
        <p:nvPicPr>
          <p:cNvPr id="178" name="Google Shape;17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5150" y="488550"/>
            <a:ext cx="1529150" cy="15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>
            <a:off x="729450" y="1318650"/>
            <a:ext cx="2138100" cy="15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40"/>
              <a:t>Device </a:t>
            </a:r>
            <a:r>
              <a:rPr lang="en" sz="2040"/>
              <a:t>Procurement</a:t>
            </a:r>
            <a:r>
              <a:rPr lang="en" sz="2040"/>
              <a:t> </a:t>
            </a:r>
            <a:r>
              <a:rPr lang="en" sz="2040"/>
              <a:t>Workflow</a:t>
            </a:r>
            <a:r>
              <a:rPr lang="en" sz="2040"/>
              <a:t> in </a:t>
            </a:r>
            <a:r>
              <a:rPr lang="en" sz="2040"/>
              <a:t>one Hospital</a:t>
            </a:r>
            <a:endParaRPr sz="2040"/>
          </a:p>
        </p:txBody>
      </p:sp>
      <p:pic>
        <p:nvPicPr>
          <p:cNvPr id="184" name="Google Shape;18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8850" y="774700"/>
            <a:ext cx="5165349" cy="376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</a:t>
            </a:r>
            <a:endParaRPr/>
          </a:p>
        </p:txBody>
      </p:sp>
      <p:pic>
        <p:nvPicPr>
          <p:cNvPr id="190" name="Google Shape;190;p24"/>
          <p:cNvPicPr preferRelativeResize="0"/>
          <p:nvPr/>
        </p:nvPicPr>
        <p:blipFill rotWithShape="1">
          <a:blip r:embed="rId3">
            <a:alphaModFix/>
          </a:blip>
          <a:srcRect b="-19961" l="0" r="-19961" t="0"/>
          <a:stretch/>
        </p:blipFill>
        <p:spPr>
          <a:xfrm>
            <a:off x="2217025" y="101250"/>
            <a:ext cx="5299851" cy="494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06250"/>
            <a:ext cx="2064625" cy="2298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35912" y="68402"/>
            <a:ext cx="2208089" cy="229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3250" y="2945425"/>
            <a:ext cx="2730750" cy="19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50" y="240609"/>
            <a:ext cx="9144003" cy="5107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1129149" y="2123462"/>
            <a:ext cx="7263300" cy="24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425" y="1375850"/>
            <a:ext cx="8423076" cy="348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>
            <p:ph type="title"/>
          </p:nvPr>
        </p:nvSpPr>
        <p:spPr>
          <a:xfrm>
            <a:off x="729450" y="1318650"/>
            <a:ext cx="7818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Bundle Reservation Workflow</a:t>
            </a:r>
            <a:endParaRPr/>
          </a:p>
        </p:txBody>
      </p:sp>
      <p:sp>
        <p:nvSpPr>
          <p:cNvPr id="213" name="Google Shape;213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DoctorRole(RequestResourceBundle)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PHSAdmin(CreateResourceBundle)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Managers(ProcessReservationRequests)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PHSAdmin(ViewResourceBundles)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→ LogisticsManager(ManageDeviceTransfer)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729450" y="1318650"/>
            <a:ext cx="7864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Bundle Reservation Workflow - DoctorRole</a:t>
            </a:r>
            <a:endParaRPr/>
          </a:p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private void setupDeviceRoomMapping() {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        deviceRoomTypeMap.put("da Vinci Surgical Robot System", "Robotic OR");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        deviceRoomTypeMap.put("X-Ray Machine", "Imaging Room");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        deviceRoomTypeMap.put("MRI Scanner", "Imaging Room");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        deviceRoomTypeMap.put("Ultrasound", "General OR");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    }</a:t>
            </a:r>
            <a:endParaRPr sz="90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220" name="Google Shape;22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6850" y="2078875"/>
            <a:ext cx="3631302" cy="277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Bundle Reservation Workflow - PHS</a:t>
            </a:r>
            <a:endParaRPr/>
          </a:p>
        </p:txBody>
      </p:sp>
      <p:sp>
        <p:nvSpPr>
          <p:cNvPr id="226" name="Google Shape;226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private boolean sendApprovalRequests();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private int sendDeviceRequests();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private boolean sendRoomRequest();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private int sendTeamRequests();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private int sendTransferRequests();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private void calculateTotalCost();</a:t>
            </a:r>
            <a:endParaRPr/>
          </a:p>
        </p:txBody>
      </p:sp>
      <p:pic>
        <p:nvPicPr>
          <p:cNvPr id="227" name="Google Shape;2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725" y="2078875"/>
            <a:ext cx="3148426" cy="30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Bundle Reservation Workflow - Manager</a:t>
            </a:r>
            <a:endParaRPr/>
          </a:p>
        </p:txBody>
      </p:sp>
      <p:sp>
        <p:nvSpPr>
          <p:cNvPr id="233" name="Google Shape;233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2078875"/>
            <a:ext cx="3005532" cy="226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0325" y="2078875"/>
            <a:ext cx="3562616" cy="22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2950" y="2078875"/>
            <a:ext cx="1919433" cy="226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Bundle Reservation Workflow: Completed</a:t>
            </a:r>
            <a:endParaRPr/>
          </a:p>
        </p:txBody>
      </p:sp>
      <p:sp>
        <p:nvSpPr>
          <p:cNvPr id="242" name="Google Shape;242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6788" y="2078875"/>
            <a:ext cx="3794026" cy="264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Maintenance</a:t>
            </a:r>
            <a:endParaRPr/>
          </a:p>
        </p:txBody>
      </p:sp>
      <p:sp>
        <p:nvSpPr>
          <p:cNvPr id="249" name="Google Shape;249;p32"/>
          <p:cNvSpPr txBox="1"/>
          <p:nvPr>
            <p:ph idx="1" type="body"/>
          </p:nvPr>
        </p:nvSpPr>
        <p:spPr>
          <a:xfrm>
            <a:off x="729450" y="2078875"/>
            <a:ext cx="7688700" cy="29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maintainers, who are part of the Maintenance Organization, are responsible for maintaining the medical devices.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Devices are categorized using four color codes based on maintenance severity: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14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4000">
                <a:solidFill>
                  <a:srgbClr val="FFE599"/>
                </a:solidFill>
                <a:latin typeface="Arial"/>
                <a:ea typeface="Arial"/>
                <a:cs typeface="Arial"/>
                <a:sym typeface="Arial"/>
              </a:rPr>
              <a:t>Yellow</a:t>
            </a:r>
            <a:r>
              <a:rPr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Device has not been maintained for </a:t>
            </a:r>
            <a:r>
              <a:rPr b="1"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 2 months</a:t>
            </a:r>
            <a:r>
              <a:rPr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14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40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Orange</a:t>
            </a:r>
            <a:r>
              <a:rPr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Device has not been maintained for </a:t>
            </a:r>
            <a:r>
              <a:rPr b="1"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 4 months</a:t>
            </a:r>
            <a:r>
              <a:rPr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14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Device has not been maintained for </a:t>
            </a:r>
            <a:r>
              <a:rPr b="1"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 6 months</a:t>
            </a:r>
            <a:r>
              <a:rPr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Once the maintenance is completed, the maintainer must update the </a:t>
            </a:r>
            <a:r>
              <a:rPr b="1"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maintenance status</a:t>
            </a:r>
            <a:r>
              <a:rPr lang="en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device to indicate it is complete.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of the Project</a:t>
            </a:r>
            <a:endParaRPr/>
          </a:p>
        </p:txBody>
      </p:sp>
      <p:sp>
        <p:nvSpPr>
          <p:cNvPr id="255" name="Google Shape;255;p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Goal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meet doctor’s device request. Implement different role to manage different part of this device directory.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Perfect Goal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To build a comprehensive,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secure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Medical Device Inventory Management System that seamlessly meets the demands of healthcare professionals and administrators while ensuring that devices are managed efficiently, securely, and in compliance with all relevant regulations.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5150" y="488550"/>
            <a:ext cx="1529150" cy="15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1481400" y="2158650"/>
            <a:ext cx="6181200" cy="8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40"/>
              <a:t>Q&amp;A</a:t>
            </a:r>
            <a:endParaRPr sz="3540"/>
          </a:p>
        </p:txBody>
      </p:sp>
      <p:pic>
        <p:nvPicPr>
          <p:cNvPr id="262" name="Google Shape;26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5150" y="488550"/>
            <a:ext cx="1529150" cy="15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type="title"/>
          </p:nvPr>
        </p:nvSpPr>
        <p:spPr>
          <a:xfrm>
            <a:off x="2894300" y="2304150"/>
            <a:ext cx="2871900" cy="53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40"/>
              <a:t>Thank you</a:t>
            </a:r>
            <a:endParaRPr sz="3540"/>
          </a:p>
        </p:txBody>
      </p:sp>
      <p:pic>
        <p:nvPicPr>
          <p:cNvPr id="268" name="Google Shape;26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5150" y="488550"/>
            <a:ext cx="1529150" cy="15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